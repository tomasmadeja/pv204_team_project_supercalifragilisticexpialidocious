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76" r:id="rId7"/>
    <p:sldId id="281" r:id="rId8"/>
    <p:sldId id="286" r:id="rId9"/>
    <p:sldId id="278" r:id="rId10"/>
    <p:sldId id="282" r:id="rId11"/>
    <p:sldId id="279" r:id="rId12"/>
    <p:sldId id="284" r:id="rId13"/>
    <p:sldId id="283" r:id="rId14"/>
    <p:sldId id="280" r:id="rId15"/>
    <p:sldId id="285" r:id="rId16"/>
    <p:sldId id="26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BE89BF-83A5-02B3-24A1-176C24B47995}" v="36" dt="2020-03-26T08:06:41.264"/>
    <p1510:client id="{2F8CE0FA-620A-DF0B-9B3C-F834EB534BCC}" v="3230" dt="2020-04-22T23:56:13.518"/>
    <p1510:client id="{56F7D9AA-091D-4A80-8FAD-F53A30BD86F9}" v="1" dt="2020-04-23T00:05:26.827"/>
    <p1510:client id="{71F7E8E8-63C9-777B-2ABF-B238627A0230}" v="4" dt="2020-03-25T22:53:58.544"/>
    <p1510:client id="{78BEDBDF-6D18-4880-BE0F-C9F5E48716A3}" v="2" dt="2020-04-23T00:04:02.756"/>
    <p1510:client id="{7D557538-294E-AFFE-B168-478C568E4451}" v="23" dt="2020-03-26T07:32:13.6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48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ur Lohchab" userId="S::502605@muni.cz::d179578c-ef2c-42e1-b0a2-8b8af8c0189e" providerId="AD" clId="Web-{56F7D9AA-091D-4A80-8FAD-F53A30BD86F9}"/>
    <pc:docChg chg="modSld">
      <pc:chgData name="Ankur Lohchab" userId="S::502605@muni.cz::d179578c-ef2c-42e1-b0a2-8b8af8c0189e" providerId="AD" clId="Web-{56F7D9AA-091D-4A80-8FAD-F53A30BD86F9}" dt="2020-04-23T00:05:26.827" v="0" actId="14100"/>
      <pc:docMkLst>
        <pc:docMk/>
      </pc:docMkLst>
      <pc:sldChg chg="modSp">
        <pc:chgData name="Ankur Lohchab" userId="S::502605@muni.cz::d179578c-ef2c-42e1-b0a2-8b8af8c0189e" providerId="AD" clId="Web-{56F7D9AA-091D-4A80-8FAD-F53A30BD86F9}" dt="2020-04-23T00:05:26.827" v="0" actId="14100"/>
        <pc:sldMkLst>
          <pc:docMk/>
          <pc:sldMk cId="3503788555" sldId="257"/>
        </pc:sldMkLst>
        <pc:spChg chg="mod">
          <ac:chgData name="Ankur Lohchab" userId="S::502605@muni.cz::d179578c-ef2c-42e1-b0a2-8b8af8c0189e" providerId="AD" clId="Web-{56F7D9AA-091D-4A80-8FAD-F53A30BD86F9}" dt="2020-04-23T00:05:26.827" v="0" actId="14100"/>
          <ac:spMkLst>
            <pc:docMk/>
            <pc:sldMk cId="3503788555" sldId="257"/>
            <ac:spMk id="8" creationId="{5DB6F34D-8EDA-4CB8-926A-DC4606BC3D92}"/>
          </ac:spMkLst>
        </pc:spChg>
      </pc:sldChg>
    </pc:docChg>
  </pc:docChgLst>
  <pc:docChgLst>
    <pc:chgData name="Ankur Lohchab" userId="S::502605@muni.cz::d179578c-ef2c-42e1-b0a2-8b8af8c0189e" providerId="AD" clId="Web-{78BEDBDF-6D18-4880-BE0F-C9F5E48716A3}"/>
    <pc:docChg chg="modSld">
      <pc:chgData name="Ankur Lohchab" userId="S::502605@muni.cz::d179578c-ef2c-42e1-b0a2-8b8af8c0189e" providerId="AD" clId="Web-{78BEDBDF-6D18-4880-BE0F-C9F5E48716A3}" dt="2020-04-23T00:04:02.756" v="1" actId="20577"/>
      <pc:docMkLst>
        <pc:docMk/>
      </pc:docMkLst>
      <pc:sldChg chg="modSp">
        <pc:chgData name="Ankur Lohchab" userId="S::502605@muni.cz::d179578c-ef2c-42e1-b0a2-8b8af8c0189e" providerId="AD" clId="Web-{78BEDBDF-6D18-4880-BE0F-C9F5E48716A3}" dt="2020-04-23T00:04:02.756" v="0" actId="20577"/>
        <pc:sldMkLst>
          <pc:docMk/>
          <pc:sldMk cId="3719135452" sldId="280"/>
        </pc:sldMkLst>
        <pc:spChg chg="mod">
          <ac:chgData name="Ankur Lohchab" userId="S::502605@muni.cz::d179578c-ef2c-42e1-b0a2-8b8af8c0189e" providerId="AD" clId="Web-{78BEDBDF-6D18-4880-BE0F-C9F5E48716A3}" dt="2020-04-23T00:04:02.756" v="0" actId="20577"/>
          <ac:spMkLst>
            <pc:docMk/>
            <pc:sldMk cId="3719135452" sldId="280"/>
            <ac:spMk id="3" creationId="{C996A86C-2BEB-4241-B7F9-8FC92A095EE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DB9DD-29FC-4A9E-B9FC-CB413008A6BF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94C562-EABB-4446-8EA3-3B0523C5A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077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89275-142B-41D6-A1FF-9612E2C57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09C62-5AF8-42A0-A8ED-8630D27B8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20931-AE3C-4F04-80A9-6980A26D6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‹#›</a:t>
            </a:fld>
            <a:r>
              <a:rPr lang="en-US"/>
              <a:t>/20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C1AC5-4C26-4409-AF39-98E7836A0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DF5DA-27FA-4837-97F1-B70FE1AA4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217FC-9A36-44CE-AD1F-064C48D1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‹#›</a:t>
            </a:fld>
            <a:r>
              <a:rPr lang="en-US"/>
              <a:t>/20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BF571-FA10-4929-BFC9-8C114B64C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AA999-3822-4CDE-8611-377C986FA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2C2F6-1A5F-45AB-B204-AB8406333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‹#›</a:t>
            </a:fld>
            <a:r>
              <a:rPr lang="en-US"/>
              <a:t>/20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B713A-A8B8-46F4-BF4A-1F08BD88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71EFA-8B9E-4C3D-A482-051BD8BF1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DB1B3-F786-4AA9-A6B7-80A94E88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‹#›</a:t>
            </a:fld>
            <a:r>
              <a:rPr lang="en-US"/>
              <a:t>/20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A2B614-A6C1-4F72-A046-26213AE90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0BBDE-2B7D-439F-B6F0-5DC97FD6B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D7280B-6B8E-4B62-B9C7-A93811CB5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‹#›</a:t>
            </a:fld>
            <a:r>
              <a:rPr lang="en-US"/>
              <a:t>/20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C274ADE-13D5-45A3-A54D-BD7D0B4F1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A7BFBA2-71FF-456B-A737-A418F4C02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D5B877-B86C-4212-A9B6-B48B759A9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‹#›</a:t>
            </a:fld>
            <a:r>
              <a:rPr lang="en-US"/>
              <a:t>/20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1C75F-0761-46DB-920D-037C2E799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9A0B4C-29B9-4ADA-B8D0-E1FA933A1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7CD3F-5D59-429A-8FE5-E0F4861B4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‹#›</a:t>
            </a:fld>
            <a:r>
              <a:rPr lang="en-US"/>
              <a:t>/20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84784"/>
            <a:ext cx="5111750" cy="464137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84784"/>
            <a:ext cx="3008313" cy="464137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E70A1C-DEC0-460F-A921-EF3271408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124" y="404664"/>
            <a:ext cx="6543675" cy="10129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1427C-58B3-47F8-8FC1-15911E57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872C5-1AD5-40BE-AC9A-597C2147F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EFD84-2FD3-4680-8E48-F778484F4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‹#›</a:t>
            </a:fld>
            <a:r>
              <a:rPr lang="en-US"/>
              <a:t>/20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4950" y="1544806"/>
            <a:ext cx="5774670" cy="39983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52995" y="5670343"/>
            <a:ext cx="6923932" cy="5592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19C05CA-700F-46F8-B9FA-19E19E59B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124" y="404664"/>
            <a:ext cx="6543675" cy="10129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FC5E8-C1FD-488F-BC72-3B3476924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419AB-703E-4546-B605-41D14B661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3AB59-216F-402C-A5BD-F82E1E22D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‹#›</a:t>
            </a:fld>
            <a:r>
              <a:rPr lang="en-US"/>
              <a:t>/20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7DE06-9E08-4AB7-9638-7FD42256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8EC51-490C-4215-B394-B3BCC9BA7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ABD52-78D2-4FD4-B14B-703B33DC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‹#›</a:t>
            </a:fld>
            <a:r>
              <a:rPr lang="en-US"/>
              <a:t>/20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576" y="1484784"/>
            <a:ext cx="5721424" cy="46413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13535-B2C0-4611-965F-1D2F2BCAE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69657-419A-4BA9-A291-04E0CE22A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08B9E-FA75-46C5-930C-2BB5F2E01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‹#›</a:t>
            </a:fld>
            <a:r>
              <a:rPr lang="en-US"/>
              <a:t>/20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Shape 2">
            <a:extLst>
              <a:ext uri="{FF2B5EF4-FFF2-40B4-BE49-F238E27FC236}">
                <a16:creationId xmlns:a16="http://schemas.microsoft.com/office/drawing/2014/main" id="{7623BF48-7C46-489C-95FA-B575988FB822}"/>
              </a:ext>
            </a:extLst>
          </p:cNvPr>
          <p:cNvSpPr txBox="1"/>
          <p:nvPr userDrawn="1"/>
        </p:nvSpPr>
        <p:spPr>
          <a:xfrm>
            <a:off x="0" y="6308725"/>
            <a:ext cx="9143640" cy="5492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lIns="182880" tIns="0" rIns="90000" bIns="45000">
            <a:normAutofit/>
          </a:bodyPr>
          <a:lstStyle/>
          <a:p>
            <a:pPr algn="just">
              <a:lnSpc>
                <a:spcPct val="100000"/>
              </a:lnSpc>
            </a:pPr>
            <a:endParaRPr lang="en-IN" sz="1600" b="0" strike="noStrike" spc="-1">
              <a:solidFill>
                <a:schemeClr val="accent5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43124" y="404664"/>
            <a:ext cx="6543675" cy="10129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40079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2020-03-26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020" y="64064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PV204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0079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1EF5873-10D2-4FEE-AE7C-458464C99677}" type="slidenum">
              <a:rPr lang="en-US" smtClean="0"/>
              <a:pPr/>
              <a:t>‹#›</a:t>
            </a:fld>
            <a:r>
              <a:rPr lang="en-US"/>
              <a:t>/20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85A9ED3-93C6-4FFA-A93C-7D213F2FB71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0"/>
            <a:ext cx="2143125" cy="133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2060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2060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206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2060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85750" algn="l" defTabSz="914400" rtl="0" eaLnBrk="1" latinLnBrk="0" hangingPunct="1">
        <a:spcBef>
          <a:spcPct val="20000"/>
        </a:spcBef>
        <a:buClr>
          <a:srgbClr val="002060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omasMadeja/pv204_Team_Project_Supercalifragilisticexpialidociou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tools.ietf.org/html/rfc8236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ofeng66/J-PAKE-demo/blob/master/EllipticCurveJPAKEDemo.java" TargetMode="External"/><Relationship Id="rId2" Type="http://schemas.openxmlformats.org/officeDocument/2006/relationships/hyperlink" Target="https://github.com/bcgit/bc-java/tree/master/core/src/main/java/org/bouncycastle/crypto/agreement/jpak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ools.ietf.org/html/rfc8236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02EF13E-18C9-4E7C-BC07-04A36F334D2C}"/>
              </a:ext>
            </a:extLst>
          </p:cNvPr>
          <p:cNvSpPr txBox="1"/>
          <p:nvPr/>
        </p:nvSpPr>
        <p:spPr>
          <a:xfrm>
            <a:off x="3635896" y="4423148"/>
            <a:ext cx="1872208" cy="24648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A09B9B-15CB-44F3-B432-0479BF12E7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20765"/>
            <a:ext cx="7772400" cy="1470025"/>
          </a:xfrm>
        </p:spPr>
        <p:txBody>
          <a:bodyPr/>
          <a:lstStyle/>
          <a:p>
            <a:r>
              <a:rPr lang="en-US" sz="2800" dirty="0">
                <a:latin typeface="Arial Black"/>
              </a:rPr>
              <a:t>Implementation of a Secure Channel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439E64-1CEE-45B5-B4F6-C593BC18A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901" y="3090790"/>
            <a:ext cx="8859187" cy="2695413"/>
          </a:xfrm>
        </p:spPr>
        <p:txBody>
          <a:bodyPr>
            <a:normAutofit fontScale="92500" lnSpcReduction="10000"/>
          </a:bodyPr>
          <a:lstStyle/>
          <a:p>
            <a:endParaRPr lang="en-US" sz="2600" b="1" dirty="0"/>
          </a:p>
          <a:p>
            <a:r>
              <a:rPr lang="en-US" sz="2600" b="1" dirty="0"/>
              <a:t>Team Supercalifragilisticexpialidocious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sz="1600" b="1" i="1" dirty="0">
                <a:solidFill>
                  <a:schemeClr val="bg1"/>
                </a:solidFill>
              </a:rPr>
              <a:t>Anh Minh Tran</a:t>
            </a:r>
          </a:p>
          <a:p>
            <a:endParaRPr lang="en-US" sz="1600" b="1" i="1" dirty="0">
              <a:solidFill>
                <a:schemeClr val="bg1"/>
              </a:solidFill>
            </a:endParaRPr>
          </a:p>
          <a:p>
            <a:r>
              <a:rPr lang="en-US" sz="1600" b="1" i="1" dirty="0">
                <a:solidFill>
                  <a:schemeClr val="bg1"/>
                </a:solidFill>
              </a:rPr>
              <a:t> Ankur Lohchab</a:t>
            </a:r>
          </a:p>
          <a:p>
            <a:endParaRPr lang="en-US" sz="1600" b="1" i="1" dirty="0">
              <a:solidFill>
                <a:schemeClr val="bg1"/>
              </a:solidFill>
            </a:endParaRPr>
          </a:p>
          <a:p>
            <a:r>
              <a:rPr lang="en-US" sz="1600" b="1" i="1" dirty="0" err="1">
                <a:solidFill>
                  <a:schemeClr val="bg1"/>
                </a:solidFill>
              </a:rPr>
              <a:t>Tomáš</a:t>
            </a:r>
            <a:r>
              <a:rPr lang="en-US" sz="1600" b="1" i="1" dirty="0">
                <a:solidFill>
                  <a:schemeClr val="bg1"/>
                </a:solidFill>
              </a:rPr>
              <a:t> </a:t>
            </a:r>
            <a:r>
              <a:rPr lang="en-US" sz="1600" b="1" i="1" dirty="0" err="1">
                <a:solidFill>
                  <a:schemeClr val="bg1"/>
                </a:solidFill>
              </a:rPr>
              <a:t>Madeja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5F81B-EC5E-493E-9E92-26AC570ADDD7}"/>
              </a:ext>
            </a:extLst>
          </p:cNvPr>
          <p:cNvSpPr txBox="1"/>
          <p:nvPr/>
        </p:nvSpPr>
        <p:spPr>
          <a:xfrm>
            <a:off x="464695" y="6415792"/>
            <a:ext cx="9143999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https://github.com/TomasMadeja/pv204_Team_Project_Supercalifragilisticexpialidocious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320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DB6F34D-8EDA-4CB8-926A-DC4606BC3D92}"/>
              </a:ext>
            </a:extLst>
          </p:cNvPr>
          <p:cNvSpPr txBox="1"/>
          <p:nvPr/>
        </p:nvSpPr>
        <p:spPr>
          <a:xfrm>
            <a:off x="539552" y="1772817"/>
            <a:ext cx="802432" cy="50851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712092-6769-41BE-888D-1E3B6B27E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>
                <a:latin typeface="Arial Black"/>
              </a:rPr>
              <a:t>Implementation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DD35B-27C6-4A2A-8FE4-C247F9FAF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3796" y="1904397"/>
            <a:ext cx="7381191" cy="648072"/>
          </a:xfr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anchor="ctr">
            <a:normAutofit/>
          </a:bodyPr>
          <a:lstStyle/>
          <a:p>
            <a:pPr marL="0" indent="0" algn="r">
              <a:buNone/>
            </a:pPr>
            <a:r>
              <a:rPr lang="en-US" sz="2400">
                <a:solidFill>
                  <a:schemeClr val="bg1"/>
                </a:solidFill>
                <a:latin typeface="Arial"/>
                <a:cs typeface="Arial"/>
              </a:rPr>
              <a:t>Protocol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3C52566-692A-4101-98B9-6279932C8C90}"/>
              </a:ext>
            </a:extLst>
          </p:cNvPr>
          <p:cNvSpPr txBox="1">
            <a:spLocks/>
          </p:cNvSpPr>
          <p:nvPr/>
        </p:nvSpPr>
        <p:spPr>
          <a:xfrm>
            <a:off x="1457468" y="1916832"/>
            <a:ext cx="7229331" cy="648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5337693-FB0F-4E47-AE84-B28BBDD946F7}"/>
              </a:ext>
            </a:extLst>
          </p:cNvPr>
          <p:cNvSpPr txBox="1">
            <a:spLocks/>
          </p:cNvSpPr>
          <p:nvPr/>
        </p:nvSpPr>
        <p:spPr>
          <a:xfrm>
            <a:off x="1475656" y="3104964"/>
            <a:ext cx="7229331" cy="648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A4AED61-4BFB-4336-9FC6-F39367EA6F35}"/>
              </a:ext>
            </a:extLst>
          </p:cNvPr>
          <p:cNvSpPr txBox="1">
            <a:spLocks/>
          </p:cNvSpPr>
          <p:nvPr/>
        </p:nvSpPr>
        <p:spPr>
          <a:xfrm>
            <a:off x="1345153" y="2870995"/>
            <a:ext cx="7363003" cy="64807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2400" err="1"/>
              <a:t>genuscreen</a:t>
            </a:r>
            <a:r>
              <a:rPr lang="en-US" sz="2400"/>
              <a:t> 7.0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3B75B0F-2B5D-4084-841B-2AF36CC8BA35}"/>
              </a:ext>
            </a:extLst>
          </p:cNvPr>
          <p:cNvSpPr txBox="1">
            <a:spLocks/>
          </p:cNvSpPr>
          <p:nvPr/>
        </p:nvSpPr>
        <p:spPr>
          <a:xfrm>
            <a:off x="686738" y="2870994"/>
            <a:ext cx="658416" cy="64807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/>
              <a:t>2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D09C1FC-82B5-4430-9BF2-73EFB436311C}"/>
              </a:ext>
            </a:extLst>
          </p:cNvPr>
          <p:cNvSpPr txBox="1">
            <a:spLocks/>
          </p:cNvSpPr>
          <p:nvPr/>
        </p:nvSpPr>
        <p:spPr>
          <a:xfrm>
            <a:off x="1341984" y="3856077"/>
            <a:ext cx="7363003" cy="64807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2400"/>
              <a:t>FM1280 V05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2C1ED32-A0F2-41CD-A32E-4E0229834317}"/>
              </a:ext>
            </a:extLst>
          </p:cNvPr>
          <p:cNvSpPr txBox="1">
            <a:spLocks/>
          </p:cNvSpPr>
          <p:nvPr/>
        </p:nvSpPr>
        <p:spPr>
          <a:xfrm>
            <a:off x="683569" y="3856076"/>
            <a:ext cx="658416" cy="64807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788E852-1038-45C1-A3B6-EA65ED2C938C}"/>
              </a:ext>
            </a:extLst>
          </p:cNvPr>
          <p:cNvSpPr txBox="1">
            <a:spLocks/>
          </p:cNvSpPr>
          <p:nvPr/>
        </p:nvSpPr>
        <p:spPr>
          <a:xfrm>
            <a:off x="670350" y="1904397"/>
            <a:ext cx="658415" cy="64807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6A22406-91C5-4268-BBE6-D787303BBAA5}"/>
              </a:ext>
            </a:extLst>
          </p:cNvPr>
          <p:cNvSpPr txBox="1">
            <a:spLocks/>
          </p:cNvSpPr>
          <p:nvPr/>
        </p:nvSpPr>
        <p:spPr>
          <a:xfrm>
            <a:off x="1326965" y="2870994"/>
            <a:ext cx="7363003" cy="64807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2400">
                <a:solidFill>
                  <a:schemeClr val="bg1"/>
                </a:solidFill>
                <a:latin typeface="Arial"/>
                <a:cs typeface="Arial"/>
              </a:rPr>
              <a:t>Implementation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52F59AE-BC4E-4E3D-BFD9-3E458FA90295}"/>
              </a:ext>
            </a:extLst>
          </p:cNvPr>
          <p:cNvSpPr txBox="1">
            <a:spLocks/>
          </p:cNvSpPr>
          <p:nvPr/>
        </p:nvSpPr>
        <p:spPr>
          <a:xfrm>
            <a:off x="668550" y="2870993"/>
            <a:ext cx="658416" cy="64807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8BE9600-77C0-498F-96FF-19197C3EBDFC}"/>
              </a:ext>
            </a:extLst>
          </p:cNvPr>
          <p:cNvSpPr txBox="1">
            <a:spLocks/>
          </p:cNvSpPr>
          <p:nvPr/>
        </p:nvSpPr>
        <p:spPr>
          <a:xfrm>
            <a:off x="1323796" y="3856076"/>
            <a:ext cx="7363003" cy="64807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2400" dirty="0">
                <a:solidFill>
                  <a:schemeClr val="bg1"/>
                </a:solidFill>
                <a:latin typeface="Arial"/>
                <a:cs typeface="Arial"/>
              </a:rPr>
              <a:t>Lesson Learnt and issues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A20BC-FBA9-499A-ABB6-291265776F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520" y="6400799"/>
            <a:ext cx="2133600" cy="365125"/>
          </a:xfrm>
        </p:spPr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1F602-99E7-4B39-A07B-72689863E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020" y="6406453"/>
            <a:ext cx="2895600" cy="365125"/>
          </a:xfrm>
        </p:spPr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A7A4A-E485-4FF1-A9FF-A0E41FEE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2</a:t>
            </a:fld>
            <a:r>
              <a:rPr lang="en-US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350378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E66018-96E6-43A3-BCBB-DD14F6D1A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cs-CZ" dirty="0">
                <a:latin typeface="Arial Black"/>
              </a:rPr>
              <a:t>J-PAKE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4F62AF1-7DE8-447E-90DB-D2B90FE50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>
                <a:latin typeface="Arial"/>
                <a:cs typeface="Arial"/>
              </a:rPr>
              <a:t>Password Authenticated Key Exchange by Juggling</a:t>
            </a:r>
          </a:p>
          <a:p>
            <a:r>
              <a:rPr lang="en-IN" sz="2000" dirty="0">
                <a:latin typeface="Arial"/>
                <a:cs typeface="Arial"/>
              </a:rPr>
              <a:t>E</a:t>
            </a:r>
            <a:r>
              <a:rPr lang="cs-CZ" sz="2000" dirty="0">
                <a:latin typeface="Arial"/>
                <a:cs typeface="Arial"/>
              </a:rPr>
              <a:t>stablish private and authenticated communication between two sides which shares only a low entropy secret (password, pin)</a:t>
            </a:r>
          </a:p>
          <a:p>
            <a:r>
              <a:rPr lang="cs-CZ" sz="2000" dirty="0">
                <a:latin typeface="Arial"/>
                <a:cs typeface="Arial"/>
              </a:rPr>
              <a:t>Relies on untractability of discrete logarithm -&gt; Finite number fields and </a:t>
            </a:r>
            <a:r>
              <a:rPr lang="cs-CZ" sz="2000" b="1" dirty="0">
                <a:latin typeface="Arial"/>
                <a:cs typeface="Arial"/>
              </a:rPr>
              <a:t>Elliptic curves</a:t>
            </a:r>
          </a:p>
          <a:p>
            <a:r>
              <a:rPr lang="cs-CZ" sz="2000" dirty="0">
                <a:latin typeface="Arial"/>
                <a:cs typeface="Arial"/>
              </a:rPr>
              <a:t>Two round version (symmetric) and </a:t>
            </a:r>
            <a:r>
              <a:rPr lang="cs-CZ" sz="2000" b="1" dirty="0">
                <a:latin typeface="Arial"/>
                <a:cs typeface="Arial"/>
              </a:rPr>
              <a:t>three pass version</a:t>
            </a:r>
            <a:r>
              <a:rPr lang="cs-CZ" sz="2000" dirty="0">
                <a:latin typeface="Arial"/>
                <a:cs typeface="Arial"/>
              </a:rPr>
              <a:t> (one user initiates)</a:t>
            </a:r>
            <a:endParaRPr lang="cs-CZ" sz="2000" dirty="0">
              <a:latin typeface="Arial"/>
              <a:cs typeface="Arial"/>
              <a:hlinkClick r:id="rId2"/>
            </a:endParaRPr>
          </a:p>
          <a:p>
            <a:r>
              <a:rPr lang="cs-CZ" sz="2000" dirty="0">
                <a:latin typeface="Arial"/>
                <a:cs typeface="Arial"/>
              </a:rPr>
              <a:t>Usage of a non-interactive zero-knowledge proof (e.g. non-interactive version of </a:t>
            </a:r>
            <a:r>
              <a:rPr lang="cs-CZ" sz="2000" b="1" dirty="0">
                <a:latin typeface="Arial"/>
                <a:cs typeface="Arial"/>
              </a:rPr>
              <a:t>Schnorr's proof</a:t>
            </a:r>
            <a:r>
              <a:rPr lang="cs-CZ" sz="2000" dirty="0">
                <a:latin typeface="Arial"/>
                <a:cs typeface="Arial"/>
              </a:rPr>
              <a:t>)</a:t>
            </a:r>
          </a:p>
          <a:p>
            <a:r>
              <a:rPr lang="cs-CZ" sz="2000" b="1" dirty="0">
                <a:latin typeface="Arial"/>
                <a:cs typeface="Arial"/>
              </a:rPr>
              <a:t>Off-line dictionary attack, forward secrecy,  known-key security</a:t>
            </a:r>
            <a:r>
              <a:rPr lang="cs-CZ" sz="2000" dirty="0">
                <a:latin typeface="Arial"/>
                <a:cs typeface="Arial"/>
              </a:rPr>
              <a:t> … that was what we needed</a:t>
            </a:r>
            <a:endParaRPr lang="cs-CZ" sz="2000" dirty="0"/>
          </a:p>
          <a:p>
            <a:endParaRPr lang="cs-CZ" sz="2000" dirty="0">
              <a:latin typeface="Arial"/>
              <a:cs typeface="Arial"/>
            </a:endParaRPr>
          </a:p>
          <a:p>
            <a:endParaRPr lang="cs-CZ" sz="2000" dirty="0">
              <a:latin typeface="Arial"/>
              <a:cs typeface="Arial"/>
            </a:endParaRPr>
          </a:p>
          <a:p>
            <a:endParaRPr lang="cs-CZ" sz="2000" dirty="0">
              <a:latin typeface="Arial"/>
              <a:cs typeface="Arial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7791BFA-10B6-4D20-A6D0-D5F9B096C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9160A32-F2BA-4751-AA62-7CE65E0D9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A2916B0-CA19-488C-BF75-719E7452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3</a:t>
            </a:fld>
            <a:r>
              <a:rPr lang="en-US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2696367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F74DF6-7084-49E3-BCE8-0324C6440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cs-CZ">
                <a:latin typeface="Arial Black"/>
              </a:rPr>
              <a:t>J-PAKE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5BB9005-47C4-4431-B0E3-757BA8E82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279" y="1450300"/>
            <a:ext cx="8566879" cy="452596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cs-CZ" sz="1900" dirty="0">
                <a:latin typeface="Arial"/>
                <a:cs typeface="Arial"/>
              </a:rPr>
              <a:t>Settings: EC with prime number cardinality, generator G, Alice's random numbers x1, x2, Bob's random numbers x3, x4, IDs, password s (some information based on the password)</a:t>
            </a:r>
          </a:p>
          <a:p>
            <a:pPr lvl="1" indent="0"/>
            <a:r>
              <a:rPr lang="cs-CZ" sz="1900" dirty="0">
                <a:latin typeface="Arial"/>
                <a:cs typeface="Arial"/>
              </a:rPr>
              <a:t>    </a:t>
            </a:r>
            <a:r>
              <a:rPr lang="cs-CZ" sz="1900" b="1" dirty="0">
                <a:latin typeface="Arial"/>
                <a:cs typeface="Arial"/>
              </a:rPr>
              <a:t>Alice -&gt; Bob</a:t>
            </a:r>
            <a:r>
              <a:rPr lang="cs-CZ" sz="1900" dirty="0">
                <a:latin typeface="Arial"/>
                <a:cs typeface="Arial"/>
              </a:rPr>
              <a:t>: G1 = x1 * G, G2 = x2 * G, zkp(x1), zkp(x2)</a:t>
            </a:r>
            <a:endParaRPr lang="en-IN" sz="1900" dirty="0">
              <a:latin typeface="Arial"/>
              <a:cs typeface="Arial"/>
            </a:endParaRPr>
          </a:p>
          <a:p>
            <a:pPr lvl="1" indent="0">
              <a:buNone/>
            </a:pPr>
            <a:endParaRPr lang="cs-CZ" sz="1900" dirty="0"/>
          </a:p>
          <a:p>
            <a:pPr lvl="1" indent="0"/>
            <a:r>
              <a:rPr lang="cs-CZ" sz="1900" dirty="0">
                <a:latin typeface="Arial"/>
                <a:cs typeface="Arial"/>
              </a:rPr>
              <a:t>    </a:t>
            </a:r>
            <a:r>
              <a:rPr lang="cs-CZ" sz="1900" b="1" dirty="0">
                <a:latin typeface="Arial"/>
                <a:cs typeface="Arial"/>
              </a:rPr>
              <a:t>Bob -&gt; Alice: </a:t>
            </a:r>
            <a:r>
              <a:rPr lang="cs-CZ" sz="1900" dirty="0">
                <a:latin typeface="Arial"/>
                <a:cs typeface="Arial"/>
              </a:rPr>
              <a:t>G3 = x3 * G, G4 = x4 * G, zkp(x3), zkp(x4),</a:t>
            </a:r>
          </a:p>
          <a:p>
            <a:pPr lvl="1" indent="0">
              <a:buNone/>
            </a:pPr>
            <a:r>
              <a:rPr lang="cs-CZ" sz="1900" dirty="0">
                <a:latin typeface="Arial"/>
                <a:cs typeface="Arial"/>
              </a:rPr>
              <a:t>                            B =  (x4 * s) * (G1 + G2 + G3), zkp(x4 * s)</a:t>
            </a:r>
          </a:p>
          <a:p>
            <a:pPr marL="1085850" lvl="1" indent="-342900"/>
            <a:endParaRPr lang="en-IN" sz="1900" b="1" dirty="0">
              <a:latin typeface="Arial"/>
              <a:cs typeface="Arial"/>
            </a:endParaRPr>
          </a:p>
          <a:p>
            <a:pPr marL="1085850" lvl="1" indent="-342900"/>
            <a:r>
              <a:rPr lang="cs-CZ" sz="1900" b="1" dirty="0">
                <a:latin typeface="Arial"/>
                <a:cs typeface="Arial"/>
              </a:rPr>
              <a:t>Alice -&gt; Bob: </a:t>
            </a:r>
            <a:r>
              <a:rPr lang="cs-CZ" sz="1900" dirty="0">
                <a:latin typeface="Arial"/>
                <a:cs typeface="Arial"/>
              </a:rPr>
              <a:t>A = (x2 * s) * (G3 + G4 + G1), zkp(x2 * s)</a:t>
            </a:r>
          </a:p>
          <a:p>
            <a:pPr marL="1085850" lvl="1" indent="-342900"/>
            <a:endParaRPr lang="cs-CZ" sz="1900" dirty="0">
              <a:latin typeface="Arial"/>
              <a:cs typeface="Arial"/>
            </a:endParaRPr>
          </a:p>
          <a:p>
            <a:pPr marL="1085850" lvl="1" indent="-342900"/>
            <a:r>
              <a:rPr lang="cs-CZ" sz="1900" dirty="0">
                <a:latin typeface="Arial"/>
                <a:cs typeface="Arial"/>
              </a:rPr>
              <a:t>After each pass, validation of the proof</a:t>
            </a:r>
          </a:p>
          <a:p>
            <a:pPr marL="1085850" lvl="1" indent="-342900"/>
            <a:r>
              <a:rPr lang="cs-CZ" sz="1900" dirty="0">
                <a:latin typeface="Arial"/>
                <a:cs typeface="Arial"/>
              </a:rPr>
              <a:t>Shared keys: </a:t>
            </a:r>
            <a:r>
              <a:rPr lang="cs-CZ" sz="1900" b="1" dirty="0">
                <a:latin typeface="Arial"/>
                <a:cs typeface="Arial"/>
              </a:rPr>
              <a:t>Ka = x2 * (B - ((x2 * s) * G4))</a:t>
            </a:r>
          </a:p>
          <a:p>
            <a:pPr lvl="1" indent="0">
              <a:buNone/>
            </a:pPr>
            <a:r>
              <a:rPr lang="cs-CZ" sz="1900" b="1" dirty="0">
                <a:latin typeface="Arial"/>
                <a:cs typeface="Arial"/>
              </a:rPr>
              <a:t>                           Kb = x4 * (A - ((x4 * s) * G2))</a:t>
            </a:r>
          </a:p>
          <a:p>
            <a:pPr marL="685800" indent="-342900"/>
            <a:r>
              <a:rPr lang="cs-CZ" sz="1900" dirty="0">
                <a:latin typeface="Arial"/>
                <a:cs typeface="Arial"/>
              </a:rPr>
              <a:t>Check that Ka = Kb 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BCA4DCA-9C0B-475F-A38C-B613A934D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2D032E9-85BD-46A7-941F-D8A868FC9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7A1E51A-EB64-45F1-803D-2FC1D757A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4</a:t>
            </a:fld>
            <a:r>
              <a:rPr lang="en-US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2140954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F74DF6-7084-49E3-BCE8-0324C6440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cs-CZ" dirty="0">
                <a:latin typeface="Arial Black"/>
              </a:rPr>
              <a:t>J-PAKE</a:t>
            </a:r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BCA4DCA-9C0B-475F-A38C-B613A934D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2D032E9-85BD-46A7-941F-D8A868FC9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7A1E51A-EB64-45F1-803D-2FC1D757A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5</a:t>
            </a:fld>
            <a:r>
              <a:rPr lang="en-US"/>
              <a:t>/20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034CA6-D8AC-41B5-90AC-8B8FBBFB8D06}"/>
              </a:ext>
            </a:extLst>
          </p:cNvPr>
          <p:cNvSpPr/>
          <p:nvPr/>
        </p:nvSpPr>
        <p:spPr>
          <a:xfrm>
            <a:off x="1" y="1397411"/>
            <a:ext cx="2143124" cy="3757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HOST</a:t>
            </a:r>
            <a:endParaRPr lang="en-IN" sz="1400" dirty="0"/>
          </a:p>
          <a:p>
            <a:pPr algn="ctr"/>
            <a:endParaRPr lang="en-I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C77C5D-6F1E-470D-A6E1-F58A44614951}"/>
              </a:ext>
            </a:extLst>
          </p:cNvPr>
          <p:cNvSpPr/>
          <p:nvPr/>
        </p:nvSpPr>
        <p:spPr>
          <a:xfrm>
            <a:off x="6874360" y="1397413"/>
            <a:ext cx="2269640" cy="3757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CARD</a:t>
            </a:r>
            <a:endParaRPr lang="en-IN" sz="1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94D49A2-284A-4E86-AFF3-69BADA02B9D2}"/>
              </a:ext>
            </a:extLst>
          </p:cNvPr>
          <p:cNvCxnSpPr>
            <a:cxnSpLocks/>
          </p:cNvCxnSpPr>
          <p:nvPr/>
        </p:nvCxnSpPr>
        <p:spPr>
          <a:xfrm>
            <a:off x="2121678" y="1702762"/>
            <a:ext cx="4731236" cy="2981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9CC7296-A3C7-49CC-8B1C-4EB0047D20A5}"/>
              </a:ext>
            </a:extLst>
          </p:cNvPr>
          <p:cNvCxnSpPr>
            <a:cxnSpLocks/>
          </p:cNvCxnSpPr>
          <p:nvPr/>
        </p:nvCxnSpPr>
        <p:spPr>
          <a:xfrm flipH="1">
            <a:off x="2121678" y="3090228"/>
            <a:ext cx="4731236" cy="2099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5A29347-8DD8-4DBE-9CAD-116435F26D7F}"/>
              </a:ext>
            </a:extLst>
          </p:cNvPr>
          <p:cNvCxnSpPr>
            <a:cxnSpLocks/>
          </p:cNvCxnSpPr>
          <p:nvPr/>
        </p:nvCxnSpPr>
        <p:spPr>
          <a:xfrm>
            <a:off x="2121678" y="4111268"/>
            <a:ext cx="4688343" cy="3250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09CC6D5-3053-4628-A106-11C61A6454E7}"/>
              </a:ext>
            </a:extLst>
          </p:cNvPr>
          <p:cNvSpPr txBox="1"/>
          <p:nvPr/>
        </p:nvSpPr>
        <p:spPr>
          <a:xfrm>
            <a:off x="3209336" y="1192265"/>
            <a:ext cx="245849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s-CZ" sz="1500" b="1" dirty="0">
                <a:latin typeface="Arial" panose="020B0604020202020204" pitchFamily="34" charset="0"/>
                <a:cs typeface="Arial" panose="020B0604020202020204" pitchFamily="34" charset="0"/>
              </a:rPr>
              <a:t>G1 = x1 * G, G2 = x2 * G, </a:t>
            </a:r>
            <a:endParaRPr lang="en-IN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cs-CZ" sz="1500" b="1" dirty="0">
                <a:latin typeface="Arial" panose="020B0604020202020204" pitchFamily="34" charset="0"/>
                <a:cs typeface="Arial" panose="020B0604020202020204" pitchFamily="34" charset="0"/>
              </a:rPr>
              <a:t>zkp(x1), zkp(x2)</a:t>
            </a:r>
            <a:endParaRPr lang="en-IN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EDE84E-0C06-4016-8C7A-DDAF2B6F3BDF}"/>
              </a:ext>
            </a:extLst>
          </p:cNvPr>
          <p:cNvSpPr txBox="1"/>
          <p:nvPr/>
        </p:nvSpPr>
        <p:spPr>
          <a:xfrm>
            <a:off x="2406147" y="2559574"/>
            <a:ext cx="392126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cs-CZ" sz="1500" b="1" dirty="0">
                <a:latin typeface="Arial" panose="020B0604020202020204" pitchFamily="34" charset="0"/>
                <a:cs typeface="Arial" panose="020B0604020202020204" pitchFamily="34" charset="0"/>
              </a:rPr>
              <a:t>G3 = x3 * G, G4 = x4 * G, zkp(x3), zkp(x4),</a:t>
            </a:r>
            <a:endParaRPr lang="en-IN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>
              <a:buNone/>
            </a:pPr>
            <a:r>
              <a:rPr lang="cs-CZ" sz="1500" b="1" dirty="0">
                <a:latin typeface="Arial" panose="020B0604020202020204" pitchFamily="34" charset="0"/>
                <a:cs typeface="Arial" panose="020B0604020202020204" pitchFamily="34" charset="0"/>
              </a:rPr>
              <a:t> B =  (x4 * s) * (G1 + G2 + G3), zkp(x4 * s)</a:t>
            </a:r>
            <a:endParaRPr lang="en-IN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C4B4BA-DEC6-4FBC-938A-4594922C3FA1}"/>
              </a:ext>
            </a:extLst>
          </p:cNvPr>
          <p:cNvSpPr txBox="1"/>
          <p:nvPr/>
        </p:nvSpPr>
        <p:spPr>
          <a:xfrm>
            <a:off x="2406147" y="3806976"/>
            <a:ext cx="376943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s-CZ" sz="1500" b="1" dirty="0">
                <a:latin typeface="Arial" panose="020B0604020202020204" pitchFamily="34" charset="0"/>
                <a:cs typeface="Arial" panose="020B0604020202020204" pitchFamily="34" charset="0"/>
              </a:rPr>
              <a:t>A = (x2 * s) * (G3 + G4 + G1), zkp(x2 * s)</a:t>
            </a:r>
            <a:endParaRPr lang="en-IN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1D0ACC-7BA9-46AA-9EAE-C04E5A8001AE}"/>
              </a:ext>
            </a:extLst>
          </p:cNvPr>
          <p:cNvSpPr txBox="1"/>
          <p:nvPr/>
        </p:nvSpPr>
        <p:spPr>
          <a:xfrm>
            <a:off x="1194011" y="5493180"/>
            <a:ext cx="6543675" cy="677108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1085850" lvl="1" indent="-342900"/>
            <a:r>
              <a:rPr lang="cs-CZ" sz="1900" dirty="0">
                <a:solidFill>
                  <a:schemeClr val="bg1"/>
                </a:solidFill>
                <a:latin typeface="Arial"/>
                <a:cs typeface="Arial"/>
              </a:rPr>
              <a:t>Shared keys: </a:t>
            </a:r>
            <a:r>
              <a:rPr lang="cs-CZ" sz="1900" b="1" dirty="0">
                <a:solidFill>
                  <a:schemeClr val="bg1"/>
                </a:solidFill>
                <a:latin typeface="Arial"/>
                <a:cs typeface="Arial"/>
              </a:rPr>
              <a:t>Ka = x2 * (B - ((x2 * s) * G4))</a:t>
            </a:r>
          </a:p>
          <a:p>
            <a:pPr lvl="1" indent="0">
              <a:buNone/>
            </a:pPr>
            <a:r>
              <a:rPr lang="cs-CZ" sz="1900" b="1" dirty="0">
                <a:solidFill>
                  <a:schemeClr val="bg1"/>
                </a:solidFill>
                <a:latin typeface="Arial"/>
                <a:cs typeface="Arial"/>
              </a:rPr>
              <a:t>                           Kb = x4 * (A - ((x4 * s) * G2))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415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A2FC0F-2069-4529-95D5-E1D583865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cs-CZ">
                <a:latin typeface="Arial Black"/>
              </a:rPr>
              <a:t>J-PAKE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CDD962-8968-492B-9A20-D0498F72F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latin typeface="Arial"/>
                <a:cs typeface="Arial"/>
              </a:rPr>
              <a:t>Vulnerabilities</a:t>
            </a:r>
            <a:endParaRPr lang="cs-CZ"/>
          </a:p>
          <a:p>
            <a:r>
              <a:rPr lang="cs-CZ">
                <a:latin typeface="Arial"/>
                <a:cs typeface="Arial"/>
              </a:rPr>
              <a:t>//TODO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BB88E26-5662-4EC9-BD55-E53D7C45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30A1F80-0CCA-4D06-B917-7104AFC7D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2DD1A75-7C16-40C1-BD95-85F155F06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6</a:t>
            </a:fld>
            <a:r>
              <a:rPr lang="en-US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1051802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DB6F34D-8EDA-4CB8-926A-DC4606BC3D92}"/>
              </a:ext>
            </a:extLst>
          </p:cNvPr>
          <p:cNvSpPr txBox="1"/>
          <p:nvPr/>
        </p:nvSpPr>
        <p:spPr>
          <a:xfrm>
            <a:off x="539552" y="1772817"/>
            <a:ext cx="802432" cy="50851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712092-6769-41BE-888D-1E3B6B27E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>
                <a:latin typeface="Arial Black"/>
              </a:rPr>
              <a:t>Implementation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DD35B-27C6-4A2A-8FE4-C247F9FAF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3796" y="1904397"/>
            <a:ext cx="7381191" cy="648072"/>
          </a:xfrm>
          <a:solidFill>
            <a:schemeClr val="tx2"/>
          </a:solidFill>
          <a:ln>
            <a:solidFill>
              <a:srgbClr val="4472C4"/>
            </a:solidFill>
          </a:ln>
        </p:spPr>
        <p:txBody>
          <a:bodyPr anchor="ctr">
            <a:normAutofit/>
          </a:bodyPr>
          <a:lstStyle/>
          <a:p>
            <a:pPr marL="0" indent="0" algn="r">
              <a:buNone/>
            </a:pPr>
            <a:r>
              <a:rPr lang="en-US" sz="2400">
                <a:solidFill>
                  <a:schemeClr val="bg1"/>
                </a:solidFill>
                <a:latin typeface="Arial"/>
                <a:cs typeface="Arial"/>
              </a:rPr>
              <a:t>Protocol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3C52566-692A-4101-98B9-6279932C8C90}"/>
              </a:ext>
            </a:extLst>
          </p:cNvPr>
          <p:cNvSpPr txBox="1">
            <a:spLocks/>
          </p:cNvSpPr>
          <p:nvPr/>
        </p:nvSpPr>
        <p:spPr>
          <a:xfrm>
            <a:off x="1457468" y="1916832"/>
            <a:ext cx="7229331" cy="648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5337693-FB0F-4E47-AE84-B28BBDD946F7}"/>
              </a:ext>
            </a:extLst>
          </p:cNvPr>
          <p:cNvSpPr txBox="1">
            <a:spLocks/>
          </p:cNvSpPr>
          <p:nvPr/>
        </p:nvSpPr>
        <p:spPr>
          <a:xfrm>
            <a:off x="1475656" y="3104964"/>
            <a:ext cx="7229331" cy="648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A4AED61-4BFB-4336-9FC6-F39367EA6F35}"/>
              </a:ext>
            </a:extLst>
          </p:cNvPr>
          <p:cNvSpPr txBox="1">
            <a:spLocks/>
          </p:cNvSpPr>
          <p:nvPr/>
        </p:nvSpPr>
        <p:spPr>
          <a:xfrm>
            <a:off x="1345153" y="2870995"/>
            <a:ext cx="7363003" cy="64807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2400" err="1"/>
              <a:t>genuscreen</a:t>
            </a:r>
            <a:r>
              <a:rPr lang="en-US" sz="2400"/>
              <a:t> 7.0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3B75B0F-2B5D-4084-841B-2AF36CC8BA35}"/>
              </a:ext>
            </a:extLst>
          </p:cNvPr>
          <p:cNvSpPr txBox="1">
            <a:spLocks/>
          </p:cNvSpPr>
          <p:nvPr/>
        </p:nvSpPr>
        <p:spPr>
          <a:xfrm>
            <a:off x="686738" y="2870994"/>
            <a:ext cx="658416" cy="64807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/>
              <a:t>2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D09C1FC-82B5-4430-9BF2-73EFB436311C}"/>
              </a:ext>
            </a:extLst>
          </p:cNvPr>
          <p:cNvSpPr txBox="1">
            <a:spLocks/>
          </p:cNvSpPr>
          <p:nvPr/>
        </p:nvSpPr>
        <p:spPr>
          <a:xfrm>
            <a:off x="1341984" y="3856077"/>
            <a:ext cx="7363003" cy="64807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2400"/>
              <a:t>FM1280 V05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2C1ED32-A0F2-41CD-A32E-4E0229834317}"/>
              </a:ext>
            </a:extLst>
          </p:cNvPr>
          <p:cNvSpPr txBox="1">
            <a:spLocks/>
          </p:cNvSpPr>
          <p:nvPr/>
        </p:nvSpPr>
        <p:spPr>
          <a:xfrm>
            <a:off x="683569" y="3856076"/>
            <a:ext cx="658416" cy="64807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788E852-1038-45C1-A3B6-EA65ED2C938C}"/>
              </a:ext>
            </a:extLst>
          </p:cNvPr>
          <p:cNvSpPr txBox="1">
            <a:spLocks/>
          </p:cNvSpPr>
          <p:nvPr/>
        </p:nvSpPr>
        <p:spPr>
          <a:xfrm>
            <a:off x="670350" y="1904397"/>
            <a:ext cx="658415" cy="6480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6A22406-91C5-4268-BBE6-D787303BBAA5}"/>
              </a:ext>
            </a:extLst>
          </p:cNvPr>
          <p:cNvSpPr txBox="1">
            <a:spLocks/>
          </p:cNvSpPr>
          <p:nvPr/>
        </p:nvSpPr>
        <p:spPr>
          <a:xfrm>
            <a:off x="1326965" y="2870994"/>
            <a:ext cx="7363003" cy="64807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2400">
                <a:solidFill>
                  <a:schemeClr val="bg1"/>
                </a:solidFill>
                <a:latin typeface="Arial"/>
                <a:cs typeface="Arial"/>
              </a:rPr>
              <a:t>Implementation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52F59AE-BC4E-4E3D-BFD9-3E458FA90295}"/>
              </a:ext>
            </a:extLst>
          </p:cNvPr>
          <p:cNvSpPr txBox="1">
            <a:spLocks/>
          </p:cNvSpPr>
          <p:nvPr/>
        </p:nvSpPr>
        <p:spPr>
          <a:xfrm>
            <a:off x="668550" y="2870993"/>
            <a:ext cx="658416" cy="64807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8BE9600-77C0-498F-96FF-19197C3EBDFC}"/>
              </a:ext>
            </a:extLst>
          </p:cNvPr>
          <p:cNvSpPr txBox="1">
            <a:spLocks/>
          </p:cNvSpPr>
          <p:nvPr/>
        </p:nvSpPr>
        <p:spPr>
          <a:xfrm>
            <a:off x="1323796" y="3856076"/>
            <a:ext cx="7363003" cy="64807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2400" dirty="0">
                <a:solidFill>
                  <a:schemeClr val="bg1"/>
                </a:solidFill>
                <a:latin typeface="Arial"/>
                <a:cs typeface="Arial"/>
              </a:rPr>
              <a:t>Lesson Learnt and issues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A20BC-FBA9-499A-ABB6-291265776F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520" y="6400799"/>
            <a:ext cx="2133600" cy="365125"/>
          </a:xfrm>
        </p:spPr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1F602-99E7-4B39-A07B-72689863E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020" y="6406453"/>
            <a:ext cx="2895600" cy="365125"/>
          </a:xfrm>
        </p:spPr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A7A4A-E485-4FF1-A9FF-A0E41FEE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7</a:t>
            </a:fld>
            <a:r>
              <a:rPr lang="en-US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2572167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A8ED33-E74F-449A-9D1E-999C3580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cs-CZ">
                <a:latin typeface="Arial Black"/>
              </a:rPr>
              <a:t>Implementation</a:t>
            </a:r>
            <a:br>
              <a:rPr lang="cs-CZ">
                <a:latin typeface="Arial Black"/>
              </a:rPr>
            </a:b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195076-A2C6-49B6-A1A4-E58EB3D1F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latin typeface="Arial"/>
                <a:cs typeface="Arial"/>
              </a:rPr>
              <a:t>Card side, host side, secure channel</a:t>
            </a:r>
          </a:p>
          <a:p>
            <a:r>
              <a:rPr lang="en-IN" sz="2400" dirty="0">
                <a:latin typeface="Arial"/>
                <a:cs typeface="Arial"/>
              </a:rPr>
              <a:t>Library used</a:t>
            </a:r>
          </a:p>
          <a:p>
            <a:pPr lvl="1"/>
            <a:r>
              <a:rPr lang="cs-CZ" sz="2000" dirty="0">
                <a:latin typeface="Arial"/>
                <a:cs typeface="Arial"/>
              </a:rPr>
              <a:t>Bouncycastle </a:t>
            </a:r>
            <a:endParaRPr lang="en-IN" sz="2000" dirty="0">
              <a:latin typeface="Arial"/>
              <a:cs typeface="Arial"/>
            </a:endParaRPr>
          </a:p>
          <a:p>
            <a:pPr lvl="1"/>
            <a:r>
              <a:rPr lang="cs-CZ" sz="2000" dirty="0">
                <a:latin typeface="Arial"/>
                <a:cs typeface="Arial"/>
              </a:rPr>
              <a:t>Javacard</a:t>
            </a:r>
            <a:r>
              <a:rPr lang="en-IN" sz="2000" dirty="0">
                <a:latin typeface="Arial"/>
                <a:cs typeface="Arial"/>
              </a:rPr>
              <a:t> simulator</a:t>
            </a:r>
          </a:p>
          <a:p>
            <a:pPr lvl="1"/>
            <a:r>
              <a:rPr lang="cs-CZ" sz="2000" dirty="0">
                <a:latin typeface="Arial"/>
                <a:cs typeface="Arial"/>
              </a:rPr>
              <a:t>java.security</a:t>
            </a:r>
          </a:p>
          <a:p>
            <a:r>
              <a:rPr lang="cs-CZ" sz="2400" dirty="0">
                <a:latin typeface="Arial"/>
                <a:cs typeface="Arial"/>
              </a:rPr>
              <a:t>Bouncycastle implementation of J-PAKE – only the 2 rounds version and on the finite number fields </a:t>
            </a:r>
          </a:p>
          <a:p>
            <a:r>
              <a:rPr lang="cs-CZ" sz="2400" dirty="0">
                <a:latin typeface="Arial"/>
                <a:cs typeface="Arial"/>
              </a:rPr>
              <a:t> </a:t>
            </a:r>
            <a:endParaRPr lang="cs-CZ" sz="24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4576884-C755-48FA-86DD-81120A552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3127AD0-D9DF-422C-81D7-3BB921A1B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F4A41CE-9330-4AB7-8745-85662B186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8</a:t>
            </a:fld>
            <a:r>
              <a:rPr lang="en-US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4039788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474AC-0021-4714-B38D-FE97CD08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148" y="359694"/>
            <a:ext cx="6543675" cy="1012974"/>
          </a:xfrm>
        </p:spPr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7F115-9781-403F-8BBA-595814806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PIN authentication based on user input</a:t>
            </a:r>
          </a:p>
          <a:p>
            <a:r>
              <a:rPr lang="en-IN" dirty="0"/>
              <a:t>Mutual authentication between card and host using ZNP</a:t>
            </a:r>
          </a:p>
          <a:p>
            <a:r>
              <a:rPr lang="en-IN" dirty="0"/>
              <a:t>Derivation of Session key using ECDH</a:t>
            </a:r>
          </a:p>
          <a:p>
            <a:r>
              <a:rPr lang="en-IN" dirty="0"/>
              <a:t>Confidentiality, Integrity &amp; Freshness</a:t>
            </a:r>
          </a:p>
          <a:p>
            <a:r>
              <a:rPr lang="en-IN" dirty="0"/>
              <a:t>Erase of temp secret on closing channel</a:t>
            </a:r>
          </a:p>
          <a:p>
            <a:r>
              <a:rPr lang="en-IN" dirty="0"/>
              <a:t>Test with functionality demonstration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A48FD-221C-488D-94F5-F58C2C333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FA2FB-53AF-4B28-89D7-E8D218D04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C0E55-43FA-424B-A826-2448FC673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9</a:t>
            </a:fld>
            <a:r>
              <a:rPr lang="en-US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1928326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DB6F34D-8EDA-4CB8-926A-DC4606BC3D92}"/>
              </a:ext>
            </a:extLst>
          </p:cNvPr>
          <p:cNvSpPr txBox="1"/>
          <p:nvPr/>
        </p:nvSpPr>
        <p:spPr>
          <a:xfrm>
            <a:off x="539552" y="1772817"/>
            <a:ext cx="802432" cy="50851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712092-6769-41BE-888D-1E3B6B27E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>
                <a:latin typeface="Arial Black"/>
              </a:rPr>
              <a:t>Implementation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DD35B-27C6-4A2A-8FE4-C247F9FAF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3796" y="1904397"/>
            <a:ext cx="7381191" cy="648072"/>
          </a:xfrm>
          <a:solidFill>
            <a:schemeClr val="tx2"/>
          </a:solidFill>
          <a:ln>
            <a:solidFill>
              <a:srgbClr val="4472C4"/>
            </a:solidFill>
          </a:ln>
        </p:spPr>
        <p:txBody>
          <a:bodyPr anchor="ctr">
            <a:normAutofit/>
          </a:bodyPr>
          <a:lstStyle/>
          <a:p>
            <a:pPr marL="0" indent="0" algn="r">
              <a:buNone/>
            </a:pPr>
            <a:r>
              <a:rPr lang="en-US" sz="2400">
                <a:solidFill>
                  <a:schemeClr val="bg1"/>
                </a:solidFill>
                <a:latin typeface="Arial"/>
                <a:cs typeface="Arial"/>
              </a:rPr>
              <a:t>Protocol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3C52566-692A-4101-98B9-6279932C8C90}"/>
              </a:ext>
            </a:extLst>
          </p:cNvPr>
          <p:cNvSpPr txBox="1">
            <a:spLocks/>
          </p:cNvSpPr>
          <p:nvPr/>
        </p:nvSpPr>
        <p:spPr>
          <a:xfrm>
            <a:off x="1457468" y="1916832"/>
            <a:ext cx="7229331" cy="648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5337693-FB0F-4E47-AE84-B28BBDD946F7}"/>
              </a:ext>
            </a:extLst>
          </p:cNvPr>
          <p:cNvSpPr txBox="1">
            <a:spLocks/>
          </p:cNvSpPr>
          <p:nvPr/>
        </p:nvSpPr>
        <p:spPr>
          <a:xfrm>
            <a:off x="1475656" y="3104964"/>
            <a:ext cx="7229331" cy="648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A4AED61-4BFB-4336-9FC6-F39367EA6F35}"/>
              </a:ext>
            </a:extLst>
          </p:cNvPr>
          <p:cNvSpPr txBox="1">
            <a:spLocks/>
          </p:cNvSpPr>
          <p:nvPr/>
        </p:nvSpPr>
        <p:spPr>
          <a:xfrm>
            <a:off x="1345153" y="2870995"/>
            <a:ext cx="7363003" cy="64807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2400" err="1"/>
              <a:t>genuscreen</a:t>
            </a:r>
            <a:r>
              <a:rPr lang="en-US" sz="2400"/>
              <a:t> 7.0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3B75B0F-2B5D-4084-841B-2AF36CC8BA35}"/>
              </a:ext>
            </a:extLst>
          </p:cNvPr>
          <p:cNvSpPr txBox="1">
            <a:spLocks/>
          </p:cNvSpPr>
          <p:nvPr/>
        </p:nvSpPr>
        <p:spPr>
          <a:xfrm>
            <a:off x="686738" y="2870994"/>
            <a:ext cx="658416" cy="64807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/>
              <a:t>2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D09C1FC-82B5-4430-9BF2-73EFB436311C}"/>
              </a:ext>
            </a:extLst>
          </p:cNvPr>
          <p:cNvSpPr txBox="1">
            <a:spLocks/>
          </p:cNvSpPr>
          <p:nvPr/>
        </p:nvSpPr>
        <p:spPr>
          <a:xfrm>
            <a:off x="1341984" y="3856077"/>
            <a:ext cx="7363003" cy="64807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2400"/>
              <a:t>FM1280 V05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2C1ED32-A0F2-41CD-A32E-4E0229834317}"/>
              </a:ext>
            </a:extLst>
          </p:cNvPr>
          <p:cNvSpPr txBox="1">
            <a:spLocks/>
          </p:cNvSpPr>
          <p:nvPr/>
        </p:nvSpPr>
        <p:spPr>
          <a:xfrm>
            <a:off x="683569" y="3856076"/>
            <a:ext cx="658416" cy="64807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788E852-1038-45C1-A3B6-EA65ED2C938C}"/>
              </a:ext>
            </a:extLst>
          </p:cNvPr>
          <p:cNvSpPr txBox="1">
            <a:spLocks/>
          </p:cNvSpPr>
          <p:nvPr/>
        </p:nvSpPr>
        <p:spPr>
          <a:xfrm>
            <a:off x="670350" y="1904397"/>
            <a:ext cx="658415" cy="6480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6A22406-91C5-4268-BBE6-D787303BBAA5}"/>
              </a:ext>
            </a:extLst>
          </p:cNvPr>
          <p:cNvSpPr txBox="1">
            <a:spLocks/>
          </p:cNvSpPr>
          <p:nvPr/>
        </p:nvSpPr>
        <p:spPr>
          <a:xfrm>
            <a:off x="1326965" y="2870994"/>
            <a:ext cx="7363003" cy="648072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2400">
                <a:solidFill>
                  <a:schemeClr val="bg1"/>
                </a:solidFill>
                <a:latin typeface="Arial"/>
                <a:cs typeface="Arial"/>
              </a:rPr>
              <a:t>Implementation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52F59AE-BC4E-4E3D-BFD9-3E458FA90295}"/>
              </a:ext>
            </a:extLst>
          </p:cNvPr>
          <p:cNvSpPr txBox="1">
            <a:spLocks/>
          </p:cNvSpPr>
          <p:nvPr/>
        </p:nvSpPr>
        <p:spPr>
          <a:xfrm>
            <a:off x="668550" y="2870993"/>
            <a:ext cx="658416" cy="648072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8BE9600-77C0-498F-96FF-19197C3EBDFC}"/>
              </a:ext>
            </a:extLst>
          </p:cNvPr>
          <p:cNvSpPr txBox="1">
            <a:spLocks/>
          </p:cNvSpPr>
          <p:nvPr/>
        </p:nvSpPr>
        <p:spPr>
          <a:xfrm>
            <a:off x="1323796" y="3856076"/>
            <a:ext cx="7363003" cy="64807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14550" indent="-285750" algn="l" defTabSz="914400" rtl="0" eaLnBrk="1" latinLnBrk="0" hangingPunct="1">
              <a:spcBef>
                <a:spcPct val="20000"/>
              </a:spcBef>
              <a:buClr>
                <a:srgbClr val="00206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2400" dirty="0">
                <a:solidFill>
                  <a:schemeClr val="bg1"/>
                </a:solidFill>
                <a:latin typeface="Arial"/>
                <a:cs typeface="Arial"/>
              </a:rPr>
              <a:t>Lesson Learnt and issues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A20BC-FBA9-499A-ABB6-291265776F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520" y="6400799"/>
            <a:ext cx="2133600" cy="365125"/>
          </a:xfrm>
        </p:spPr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1F602-99E7-4B39-A07B-72689863E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020" y="6406453"/>
            <a:ext cx="2895600" cy="365125"/>
          </a:xfrm>
        </p:spPr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A7A4A-E485-4FF1-A9FF-A0E41FEE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10</a:t>
            </a:fld>
            <a:r>
              <a:rPr lang="en-US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435856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D4DFED-A008-4B34-9F14-97A7623FD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IN" dirty="0">
                <a:latin typeface="Arial Black"/>
              </a:rPr>
              <a:t>Lesson learnt </a:t>
            </a:r>
            <a:r>
              <a:rPr lang="cs-CZ" dirty="0">
                <a:latin typeface="Arial Black"/>
              </a:rPr>
              <a:t>and issues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996A86C-2BEB-4241-B7F9-8FC92A095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>
                <a:latin typeface="Arial"/>
                <a:cs typeface="Arial"/>
              </a:rPr>
              <a:t>No implementation</a:t>
            </a:r>
            <a:r>
              <a:rPr lang="cs-CZ" dirty="0">
                <a:latin typeface="Arial"/>
                <a:cs typeface="Arial"/>
              </a:rPr>
              <a:t> </a:t>
            </a:r>
            <a:r>
              <a:rPr lang="en-IN" dirty="0">
                <a:latin typeface="Arial"/>
                <a:cs typeface="Arial"/>
              </a:rPr>
              <a:t>of “</a:t>
            </a:r>
            <a:r>
              <a:rPr lang="cs-CZ" dirty="0">
                <a:latin typeface="Arial"/>
                <a:cs typeface="Arial"/>
              </a:rPr>
              <a:t>mod n</a:t>
            </a:r>
            <a:r>
              <a:rPr lang="en-IN" dirty="0">
                <a:latin typeface="Arial"/>
                <a:cs typeface="Arial"/>
              </a:rPr>
              <a:t>”</a:t>
            </a:r>
            <a:endParaRPr lang="cs-CZ" dirty="0">
              <a:latin typeface="Arial"/>
              <a:cs typeface="Arial"/>
            </a:endParaRPr>
          </a:p>
          <a:p>
            <a:r>
              <a:rPr lang="en-IN" dirty="0">
                <a:latin typeface="Arial"/>
                <a:cs typeface="Arial"/>
              </a:rPr>
              <a:t>Re-do</a:t>
            </a:r>
            <a:r>
              <a:rPr lang="cs-CZ" dirty="0">
                <a:latin typeface="Arial"/>
                <a:cs typeface="Arial"/>
              </a:rPr>
              <a:t> most of the work</a:t>
            </a:r>
            <a:r>
              <a:rPr lang="en-IN" dirty="0">
                <a:latin typeface="Arial"/>
                <a:cs typeface="Arial"/>
              </a:rPr>
              <a:t> due to non compatibility of individual work</a:t>
            </a:r>
          </a:p>
          <a:p>
            <a:r>
              <a:rPr lang="en-IN" dirty="0">
                <a:latin typeface="Arial"/>
                <a:cs typeface="Arial"/>
              </a:rPr>
              <a:t>Not implementation of EC multiplication on </a:t>
            </a:r>
            <a:r>
              <a:rPr lang="en-IN" dirty="0" err="1">
                <a:latin typeface="Arial"/>
                <a:cs typeface="Arial"/>
              </a:rPr>
              <a:t>jcmathlib</a:t>
            </a:r>
            <a:r>
              <a:rPr lang="en-IN" dirty="0">
                <a:latin typeface="Arial"/>
                <a:cs typeface="Arial"/>
              </a:rPr>
              <a:t>.</a:t>
            </a:r>
          </a:p>
          <a:p>
            <a:endParaRPr lang="en-IN" dirty="0">
              <a:latin typeface="Arial"/>
              <a:cs typeface="Arial"/>
            </a:endParaRPr>
          </a:p>
          <a:p>
            <a:endParaRPr lang="cs-CZ" dirty="0">
              <a:latin typeface="Arial"/>
              <a:cs typeface="Arial"/>
            </a:endParaRPr>
          </a:p>
          <a:p>
            <a:endParaRPr lang="cs-CZ" dirty="0">
              <a:latin typeface="Arial"/>
              <a:cs typeface="Arial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B5023B5-D4E3-48B8-B2BB-C1850CCCA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F25251-0D6D-45B7-9EBF-EFFA614F2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04B5808-2499-44DE-A708-E47538245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11</a:t>
            </a:fld>
            <a:r>
              <a:rPr lang="en-US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3719135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D4DFED-A008-4B34-9F14-97A7623FD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IN" dirty="0">
                <a:latin typeface="Arial Black"/>
              </a:rPr>
              <a:t>Ref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996A86C-2BEB-4241-B7F9-8FC92A095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cs-CZ" sz="1800" dirty="0">
                <a:latin typeface="Arial"/>
                <a:cs typeface="Arial"/>
                <a:hlinkClick r:id="rId2"/>
              </a:rPr>
              <a:t>https://github.com/bcgit/bc-java/tree/master/core/src/main/java/org/bouncycastle/crypto/agreement/jpake</a:t>
            </a:r>
            <a:endParaRPr lang="en-IN" sz="1800" dirty="0">
              <a:latin typeface="Arial"/>
              <a:cs typeface="Arial"/>
            </a:endParaRPr>
          </a:p>
          <a:p>
            <a:pPr algn="just"/>
            <a:r>
              <a:rPr lang="cs-CZ" sz="1800" dirty="0">
                <a:latin typeface="Arial"/>
                <a:cs typeface="Arial"/>
                <a:hlinkClick r:id="rId3"/>
              </a:rPr>
              <a:t>https://github.com/haofeng66/J-PAKE-demo/blob/master/EllipticCurveJPAKEDemo.java</a:t>
            </a:r>
            <a:endParaRPr lang="en-IN" sz="1800" dirty="0">
              <a:latin typeface="Arial"/>
              <a:cs typeface="Arial"/>
            </a:endParaRPr>
          </a:p>
          <a:p>
            <a:pPr algn="just"/>
            <a:r>
              <a:rPr lang="cs-CZ" sz="1800" dirty="0">
                <a:latin typeface="Arial"/>
                <a:cs typeface="Arial"/>
                <a:hlinkClick r:id="rId4"/>
              </a:rPr>
              <a:t>https://tools.ietf.org/html/rfc8236#</a:t>
            </a:r>
            <a:endParaRPr lang="en-IN" sz="1800" dirty="0">
              <a:latin typeface="Arial"/>
              <a:cs typeface="Arial"/>
              <a:hlinkClick r:id="rId4"/>
            </a:endParaRPr>
          </a:p>
          <a:p>
            <a:pPr algn="just"/>
            <a:endParaRPr lang="cs-CZ" sz="1800" dirty="0">
              <a:latin typeface="Arial"/>
              <a:cs typeface="Arial"/>
              <a:hlinkClick r:id="rId4"/>
            </a:endParaRPr>
          </a:p>
          <a:p>
            <a:pPr algn="just"/>
            <a:endParaRPr lang="en-IN" sz="1800" dirty="0">
              <a:latin typeface="Arial"/>
              <a:cs typeface="Arial"/>
            </a:endParaRPr>
          </a:p>
          <a:p>
            <a:pPr algn="just"/>
            <a:endParaRPr lang="en-IN" sz="1800" dirty="0">
              <a:latin typeface="Arial"/>
              <a:cs typeface="Arial"/>
            </a:endParaRPr>
          </a:p>
          <a:p>
            <a:pPr algn="just"/>
            <a:endParaRPr lang="en-IN" sz="1800" dirty="0">
              <a:latin typeface="Arial"/>
              <a:cs typeface="Arial"/>
            </a:endParaRPr>
          </a:p>
          <a:p>
            <a:pPr algn="just"/>
            <a:endParaRPr lang="en-IN" sz="1800" dirty="0">
              <a:latin typeface="Arial"/>
              <a:cs typeface="Arial"/>
            </a:endParaRPr>
          </a:p>
          <a:p>
            <a:pPr algn="just"/>
            <a:endParaRPr lang="cs-CZ" sz="1800" dirty="0">
              <a:latin typeface="Arial"/>
              <a:cs typeface="Arial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B5023B5-D4E3-48B8-B2BB-C1850CCCA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F25251-0D6D-45B7-9EBF-EFFA614F2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04B5808-2499-44DE-A708-E47538245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12</a:t>
            </a:fld>
            <a:r>
              <a:rPr lang="en-US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1862595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739FFE-EF53-4E71-8E0C-3E2009B29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5085184"/>
            <a:ext cx="6543675" cy="1012974"/>
          </a:xfrm>
        </p:spPr>
        <p:txBody>
          <a:bodyPr/>
          <a:lstStyle/>
          <a:p>
            <a:pPr algn="r"/>
            <a:r>
              <a:rPr lang="en-US" sz="2800"/>
              <a:t>Thank You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F22AC2-934B-43FE-B002-60B2970CEE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520" y="6400799"/>
            <a:ext cx="2133600" cy="365125"/>
          </a:xfrm>
        </p:spPr>
        <p:txBody>
          <a:bodyPr/>
          <a:lstStyle/>
          <a:p>
            <a:r>
              <a:rPr lang="en-US"/>
              <a:t>2020-03-26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BD9E2C-C453-4357-9D6E-C78868C1B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020" y="6406453"/>
            <a:ext cx="2895600" cy="365125"/>
          </a:xfrm>
        </p:spPr>
        <p:txBody>
          <a:bodyPr/>
          <a:lstStyle/>
          <a:p>
            <a:r>
              <a:rPr lang="en-US"/>
              <a:t>PV204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EEBEA-3242-4509-B890-CDF49C446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F5873-10D2-4FEE-AE7C-458464C99677}" type="slidenum">
              <a:rPr lang="en-US" smtClean="0"/>
              <a:pPr/>
              <a:t>13</a:t>
            </a:fld>
            <a:r>
              <a:rPr lang="en-US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1286052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B606D6AC8D230479D8F32D60BB5F7B1" ma:contentTypeVersion="2" ma:contentTypeDescription="Vytvoří nový dokument" ma:contentTypeScope="" ma:versionID="81d0600b5b939fa14ebd9d7f19c42e81">
  <xsd:schema xmlns:xsd="http://www.w3.org/2001/XMLSchema" xmlns:xs="http://www.w3.org/2001/XMLSchema" xmlns:p="http://schemas.microsoft.com/office/2006/metadata/properties" xmlns:ns2="a2bec70c-4335-4332-91ed-836b708e14e5" targetNamespace="http://schemas.microsoft.com/office/2006/metadata/properties" ma:root="true" ma:fieldsID="3016c3380845a3becb82bbda1c92a925" ns2:_="">
    <xsd:import namespace="a2bec70c-4335-4332-91ed-836b708e14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bec70c-4335-4332-91ed-836b708e14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AB994EC-B4FE-42F2-B807-53B055C6C6BF}">
  <ds:schemaRefs>
    <ds:schemaRef ds:uri="a2bec70c-4335-4332-91ed-836b708e14e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DD3A327-F87B-46D8-B45A-5EDA7ED154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2FB513-48BC-4CED-BC8E-60FFD355180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756</Words>
  <Application>Microsoft Office PowerPoint</Application>
  <PresentationFormat>On-screen Show (4:3)</PresentationFormat>
  <Paragraphs>140</Paragraphs>
  <Slides>13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Wingdings</vt:lpstr>
      <vt:lpstr>Office Theme</vt:lpstr>
      <vt:lpstr>Implementation of a Secure Channel</vt:lpstr>
      <vt:lpstr>Implementation</vt:lpstr>
      <vt:lpstr>J-PAKE</vt:lpstr>
      <vt:lpstr>J-PAKE</vt:lpstr>
      <vt:lpstr>J-PAKE</vt:lpstr>
      <vt:lpstr>J-PAKE</vt:lpstr>
      <vt:lpstr>Implementation</vt:lpstr>
      <vt:lpstr>Implementation </vt:lpstr>
      <vt:lpstr>IMPLEMENTATION</vt:lpstr>
      <vt:lpstr>Implementation</vt:lpstr>
      <vt:lpstr>Lesson learnt and issues</vt:lpstr>
      <vt:lpstr>Ref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ankur lohchab</dc:creator>
  <cp:lastModifiedBy>ankur</cp:lastModifiedBy>
  <cp:revision>9</cp:revision>
  <dcterms:created xsi:type="dcterms:W3CDTF">2020-03-23T01:24:59Z</dcterms:created>
  <dcterms:modified xsi:type="dcterms:W3CDTF">2020-04-23T00:59:36Z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0x0101001B606D6AC8D230479D8F32D60BB5F7B1</vt:lpwstr>
  </property>
</Properties>
</file>